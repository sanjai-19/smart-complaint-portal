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1" r:id="rId2"/>
    <p:sldId id="290" r:id="rId3"/>
    <p:sldId id="301" r:id="rId4"/>
    <p:sldId id="293" r:id="rId5"/>
    <p:sldId id="279" r:id="rId6"/>
    <p:sldId id="281" r:id="rId7"/>
    <p:sldId id="282" r:id="rId8"/>
    <p:sldId id="294" r:id="rId9"/>
    <p:sldId id="298" r:id="rId10"/>
    <p:sldId id="284" r:id="rId11"/>
    <p:sldId id="297" r:id="rId12"/>
    <p:sldId id="299" r:id="rId13"/>
    <p:sldId id="285" r:id="rId14"/>
    <p:sldId id="300" r:id="rId15"/>
    <p:sldId id="303" r:id="rId16"/>
    <p:sldId id="30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DAY KIRAN PALAGIRI" initials="UKP" lastIdx="1" clrIdx="0">
    <p:extLst>
      <p:ext uri="{19B8F6BF-5375-455C-9EA6-DF929625EA0E}">
        <p15:presenceInfo xmlns:p15="http://schemas.microsoft.com/office/powerpoint/2012/main" userId="e472569547126c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590" autoAdjust="0"/>
  </p:normalViewPr>
  <p:slideViewPr>
    <p:cSldViewPr>
      <p:cViewPr varScale="1">
        <p:scale>
          <a:sx n="78" d="100"/>
          <a:sy n="78" d="100"/>
        </p:scale>
        <p:origin x="160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290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C7523-A487-4FE9-8778-92BDA7517582}" type="datetime3">
              <a:rPr lang="en-US" smtClean="0"/>
              <a:t>22 September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367A52-E3CF-44E7-B0BD-2053F5B1601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56350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EC64D-F80B-464F-89C3-2C0C7C294EBF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885EDBD-DC0D-4DCF-81FB-0320C8338C0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06661" y="6356350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F65C4-3BB2-4B01-820C-4E42CDD2D7BA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8E260E4-5885-4162-9A9B-BD4B1C73E96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4013" y="6389431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3940-8A3E-4B8C-BA89-72544308E101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8B22EFA-7C55-4B48-8CEC-77BD23D1F9A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90968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ED70D-4F90-46A2-A4D5-86B0366C7C54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4314DE0-B936-4362-B52E-B063EB0F5BB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82722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4E7F-8CFC-484D-B36C-9771C89F821F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CB0626-7066-48BC-A8A8-03E38DC766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356349"/>
            <a:ext cx="34290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36F411-3972-A5E9-8F49-58607FEB308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201412"/>
            <a:ext cx="812675" cy="96960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F92B4-9B1E-4C15-8CEE-666DADDF8AF0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chive.ics.uci.edu/ml/datasets/Early+stage+diabetes+risk+prediction+dataset" TargetMode="External"/><Relationship Id="rId3" Type="http://schemas.openxmlformats.org/officeDocument/2006/relationships/hyperlink" Target="https://www.healthline.com/health/diabetes" TargetMode="External"/><Relationship Id="rId4" Type="http://schemas.openxmlformats.org/officeDocument/2006/relationships/hyperlink" Target="https://towardsdatascience.com/understanding-random-forest-58381e0602d2" TargetMode="External"/><Relationship Id="rId5" Type="http://schemas.openxmlformats.org/officeDocument/2006/relationships/hyperlink" Target="https://scikit-learn.org/stable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641497" y="2209800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Subject Code</a:t>
            </a:r>
          </a:p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 I - INTERDISCIPLINARY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09198"/>
            <a:ext cx="5112490" cy="1529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t>1. H Sanjai [ Reg.No. : 44731076 ] (Solo Lead)</a:t>
            </a:r>
          </a:p>
          <a:p>
            <a:pPr>
              <a:lnSpc>
                <a:spcPct val="150000"/>
              </a:lnSpc>
            </a:pPr>
            <a:r>
              <a:t>1. H Sanjai [ Reg.No. : 44731076 ] (Solo Lead)</a:t>
            </a:r>
          </a:p>
          <a:p>
            <a:pPr>
              <a:lnSpc>
                <a:spcPct val="150000"/>
              </a:lnSpc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>
              <a:lnSpc>
                <a:spcPct val="150000"/>
              </a:lnSpc>
            </a:pPr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D4C8-8F1C-450E-98BD-5D769418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D7F4B-9193-457D-9817-7BB1C17946D0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4EB7-8EDB-4EBE-9273-5F8107C6B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image2.jpeg">
            <a:extLst>
              <a:ext uri="{FF2B5EF4-FFF2-40B4-BE49-F238E27FC236}">
                <a16:creationId xmlns:a16="http://schemas.microsoft.com/office/drawing/2014/main" id="{41D730E6-1A36-D6AA-9C57-707732AD6B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028" y="183642"/>
            <a:ext cx="8598195" cy="1843595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0983F1-418B-F172-25AC-56A554474B23}"/>
              </a:ext>
            </a:extLst>
          </p:cNvPr>
          <p:cNvSpPr txBox="1"/>
          <p:nvPr/>
        </p:nvSpPr>
        <p:spPr>
          <a:xfrm>
            <a:off x="2251445" y="3988369"/>
            <a:ext cx="4641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/>
            </a:pPr>
            <a:r>
              <a:t>SMART COMPLAINT &amp; GRIEVANCE REDRESSAL PORTAL</a:t>
            </a:r>
            <a:br/>
            <a:r>
              <a:t>(Hierarchical Campus Grievance Redressal &amp; SLA Auto-Escalation Web Platform)</a:t>
            </a:r>
            <a:endParaRPr lang="en-IN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EFADC-5F7F-0D34-EF41-FCA8211454DE}"/>
              </a:ext>
            </a:extLst>
          </p:cNvPr>
          <p:cNvSpPr txBox="1"/>
          <p:nvPr/>
        </p:nvSpPr>
        <p:spPr>
          <a:xfrm>
            <a:off x="5410200" y="5293702"/>
            <a:ext cx="4641110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itchFamily="34" charset="0"/>
                <a:cs typeface="Arial" pitchFamily="34" charset="0"/>
              </a:rPr>
              <a:t>Internal Guide</a:t>
            </a:r>
          </a:p>
          <a:p>
            <a:pPr>
              <a:lnSpc>
                <a:spcPct val="150000"/>
              </a:lnSpc>
            </a:pPr>
            <a:r>
              <a:t>Ms. R. Shanumgaa Priya, M.E.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4E8BE6-5A97-DF17-64D3-651EDD17C7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9398" y="6419380"/>
            <a:ext cx="3429000" cy="365125"/>
          </a:xfrm>
        </p:spPr>
        <p:txBody>
          <a:bodyPr/>
          <a:lstStyle/>
          <a:p>
            <a:r>
              <a:t>Department of Computer Science and Engineering (Artificial Intelligence)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98525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 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COURSE CERTIFICATE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ABSTRACT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SYSTEM ARCHITECTURE 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PROJECT IMPLEMENTATION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RESULTS AND DISCUSSIONS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RESULT SNAPSHOTS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CONCLUSION &amp; FUTURE WORK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cs typeface="Arial" pitchFamily="34" charset="0"/>
              </a:rPr>
              <a:t>REFERENCES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0FFE7-5AD9-46B6-A975-97DF4CE2D32E}" type="datetime3">
              <a:rPr lang="en-US" smtClean="0"/>
              <a:t>22 September 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C1BDC-9B67-430D-970A-E36C7517514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6745B3-6D82-53EF-2AF2-EA2FFE738CD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68256" y="6477000"/>
            <a:ext cx="3429000" cy="365125"/>
          </a:xfrm>
        </p:spPr>
        <p:txBody>
          <a:bodyPr/>
          <a:lstStyle/>
          <a:p>
            <a:r>
              <a:t>Department of Computer Science and Engineering (Artificial Intelligence)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87AFF-3BB7-4D8A-B9C5-8F3B0AEE6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2575"/>
            <a:ext cx="8229600" cy="83820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COURSE CERTIFICATE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9D9BB-15EC-4B1C-83FD-B26D5A91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A4416-FFF4-42E4-AE7E-59EC91C8B19B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5E134-5B36-43B6-B88A-0BD46D9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" name="Content Placeholder 9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5B975D05-FDC3-4431-B88B-62AE898E0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95400"/>
            <a:ext cx="7620000" cy="506095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99574-1770-CCF1-7960-2BEABBE58EC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71800" y="649095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1D4ED8"/>
                </a:solidFill>
              </a:defRPr>
            </a:pPr>
            <a:r>
              <a:t>PROFESSIONAL TRAINING / CAPSTONE SPECIALIZATION</a:t>
            </a:r>
          </a:p>
          <a:p>
            <a:pPr>
              <a:spcBef>
                <a:spcPts val="1400"/>
              </a:spcBef>
              <a:defRPr sz="1400"/>
            </a:pPr>
            <a:r>
              <a:t>• Domain: Full-Stack Web Architecture, Database Systems &amp; Process Automation</a:t>
            </a:r>
            <a:br/>
            <a:r>
              <a:t>• Core Competencies Mastered: Native Java SE 21 HttpServer, MySQL 3NF Normalization, REST API Engineering, Cryptographic Security (BCrypt), and Real-Time SLA Scheduling</a:t>
            </a:r>
            <a:br/>
            <a:r>
              <a:t>• Candidate: H Sanjai (Register Number: 44731076)</a:t>
            </a:r>
            <a:br/>
            <a:r>
              <a:t>• Institution: Sathyabama Institute of Science and Technology (SIST)</a:t>
            </a:r>
            <a:br/>
            <a:r>
              <a:t>• Status: 100% Completed with Functional Prototype, Full Unit Tests, and Public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1250975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11B5-EF77-467A-8E2A-BB4AD0D8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82575"/>
            <a:ext cx="8229600" cy="83820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C00000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F7A90-AAE4-4CE3-8BFD-8CCF7FBE1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914400"/>
            <a:ext cx="8229600" cy="5943600"/>
          </a:xfrm>
        </p:spPr>
        <p:txBody>
          <a:bodyPr>
            <a:normAutofit/>
          </a:bodyPr>
          <a:lstStyle/>
          <a:p>
            <a:pPr>
              <a:defRPr sz="1300"/>
            </a:pPr>
            <a:r>
              <a:t>• In campus environments, grievance management is heavily fragmented across physical boxes, unmonitored WhatsApp messages, and email chains, leading to lost complaints and zero accountability.</a:t>
            </a:r>
            <a:br/>
            <a:br/>
            <a:r>
              <a:t>• The Smart Complaint Portal is an enterprise 3-tier web platform engineered in pure Java SE 21, MySQL 8.0, and responsive Bootstrap 5.</a:t>
            </a:r>
            <a:br/>
            <a:br/>
            <a:r>
              <a:t>• Features: (1) Automated Priority Routing, (2) Real-Time 48-Hour SLA Countdown Timers, (3) Autonomous Multi-Tier Escalation (Coordinator -&gt; HOD -&gt; Dean), and (4) Anti-Bypass Closed-Loop Student Rating Verification Lock.</a:t>
            </a:r>
            <a:br/>
            <a:br/>
            <a:r>
              <a:t>• Zero-Framework Efficiency: Sub-400ms startup latency and 98.5% payload compression via client-side canvas downsampling.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BA610-CC19-4227-B31D-DD5952D5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500E5-8FBA-4669-8911-1EAA60C3401A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8A523-CF78-4D69-9924-645284BC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1AAA5E-D5FD-7E5B-80B1-E5B7C77D78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612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23FFF-DA4F-427A-BFC2-8006A10DFA1E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95300" y="381000"/>
            <a:ext cx="8229600" cy="65563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            OBJECTIVES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153400" cy="5715000"/>
          </a:xfrm>
        </p:spPr>
        <p:txBody>
          <a:bodyPr>
            <a:normAutofit fontScale="40000" lnSpcReduction="20000"/>
          </a:bodyPr>
          <a:lstStyle/>
          <a:p>
            <a:pPr marL="514350" indent="-514350">
              <a:lnSpc>
                <a:spcPct val="170000"/>
              </a:lnSpc>
              <a:buFont typeface="+mj-lt"/>
              <a:buAutoNum type="arabicPeriod"/>
              <a:defRPr sz="1300"/>
            </a:pPr>
            <a:r>
              <a:t>1. Rapid Filing: Enable students to file categorized grievances with photos in under 60 seconds.</a:t>
            </a:r>
            <a:br/>
            <a:br/>
            <a:r>
              <a:t>2. Zero-Framework Backend: Engineer a lean Java SE 21 HttpServer on port 8080 with sub-second startup.</a:t>
            </a:r>
            <a:br/>
            <a:br/>
            <a:r>
              <a:t>3. 48-Hour SLA Guarantee: Enforce automated countdown timers with ScheduledExecutorService auto-escalation.</a:t>
            </a:r>
            <a:br/>
            <a:br/>
            <a:r>
              <a:t>4. 3NF Relational Integrity: Model MySQL database in 3NF with foreign keys and PreparedStatement security.</a:t>
            </a:r>
            <a:br/>
            <a:br/>
            <a:r>
              <a:t>5. Closed-Loop Student Rating: Prevent ticket resolution until complainant validates repairs (1-5 stars).</a:t>
            </a:r>
            <a:br/>
            <a:br/>
            <a:r>
              <a:t>6. Client-Side Image Compression: Reduce mobile camera photos from 8 MB to &lt;120 KB via HTML5 canvas.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E0C94-068A-A184-2CC7-47F5BC2E8A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7700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597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82009" y="285398"/>
            <a:ext cx="8229600" cy="809711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   SYSTEM ARCHITECTURE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3844-EC52-4193-8255-2E1481849864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D294ADC-2A46-4501-88FF-41E51214F4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115" y="1905803"/>
            <a:ext cx="4423930" cy="2895636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3A6D67-FCB0-493B-9BB0-179BFB6B0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40" y="1552489"/>
            <a:ext cx="3886200" cy="42672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C08D3-7A1F-0943-F691-6795272BBF1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2309" y="6390039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  <p:pic>
        <p:nvPicPr>
          <p:cNvPr id="13" name="Picture 12" descr="fig1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1645920"/>
            <a:ext cx="8686800" cy="561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5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9AA73-1308-443C-A46F-0039F1036F17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655638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HARDWARE AND SOFTWARE REQUIREMENTS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305800" cy="5638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 sz="1150"/>
            </a:pPr>
            <a:r>
              <a:t>SOFTWARE REQUIREMENTS:</a:t>
            </a:r>
            <a:br/>
            <a:r>
              <a:t>• Operating System: Windows 11 / Linux Ubuntu 22.04 LTS</a:t>
            </a:r>
            <a:br/>
            <a:r>
              <a:t>• Runtime &amp; Language: Java SE Development Kit (JDK 21 LTS)</a:t>
            </a:r>
            <a:br/>
            <a:r>
              <a:t>• Database: MySQL Server 8.0 / MariaDB 10.4 (InnoDB Engine, ACID)</a:t>
            </a:r>
            <a:br/>
            <a:r>
              <a:t>• Web Stack: Semantic HTML5, CSS3, ES6+ JavaScript, Bootstrap 5.3.3</a:t>
            </a:r>
            <a:br/>
            <a:r>
              <a:t>• Libraries: com.google.code.gson (JSON), org.mindrot:jbcrypt (Security)</a:t>
            </a:r>
            <a:br/>
            <a:r>
              <a:t>• Tooling: Apache Maven 3.9, Postman REST Client, IntelliJ IDEA</a:t>
            </a:r>
            <a:br/>
            <a:br/>
            <a:r>
              <a:t>HARDWARE REQUIREMENTS:</a:t>
            </a:r>
            <a:br/>
            <a:r>
              <a:t>• Processor: Intel Core i5 / AMD Ryzen 5 (2.5 GHz+, 6 Cores)</a:t>
            </a:r>
            <a:br/>
            <a:r>
              <a:t>• Memory: 16 GB DDR4 RAM | Storage: 512 GB NVMe SSD</a:t>
            </a:r>
            <a:br/>
            <a:r>
              <a:t>• Network: Gigabit Ethernet / Wi-Fi | Client: Any modern mobile/PC browser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BB034-01EE-2012-106F-5FC5D194826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560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64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DF3B-CCB1-4769-B759-BAB65C5F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229600" cy="854075"/>
          </a:xfrm>
        </p:spPr>
        <p:txBody>
          <a:bodyPr>
            <a:normAutofit/>
          </a:bodyPr>
          <a:lstStyle/>
          <a:p>
            <a:pPr>
              <a:defRPr sz="2000" b="1"/>
            </a:pPr>
            <a:r>
              <a:t>RELATIONAL DATABASE SCHEMA (3NF)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C9B57-DE89-4E88-B948-E8C1FB968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52868"/>
            <a:ext cx="8686800" cy="66294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D52CA-C05E-4ED0-93ED-B6BCCCB29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32292-ECE0-431B-8F66-CC00D08E802A}" type="datetime3">
              <a:rPr lang="en-US" smtClean="0"/>
              <a:t>22 September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EDBC-8F67-4FF3-B903-352BC604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24B5E61-14AB-CC11-DFAB-854743EEA80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66360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  <p:pic>
        <p:nvPicPr>
          <p:cNvPr id="8" name="Picture 7" descr="fig3_e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686800" cy="565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E070-4E03-4253-AAB0-7FC68612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806449"/>
          </a:xfrm>
        </p:spPr>
        <p:txBody>
          <a:bodyPr>
            <a:normAutofit/>
          </a:bodyPr>
          <a:lstStyle/>
          <a:p>
            <a:pPr>
              <a:defRPr sz="2000" b="1"/>
            </a:pPr>
            <a:r>
              <a:t>PROCESS AUTOMATION &amp; SLA ESCALATION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CA8CB-7E9D-4408-91D4-A02B97D49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40" y="1219200"/>
            <a:ext cx="8654359" cy="495299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8C24B-E153-4BF5-8CBD-FA822331E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ACDA3-B70A-4ED5-8B00-C299AEC5364E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86D35-F971-40BC-B385-31D14C562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FD63E7-5ECC-0A5E-1DFE-140A7ECEFC7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11619" y="6446837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  <p:pic>
        <p:nvPicPr>
          <p:cNvPr id="8" name="Picture 7" descr="fig2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645920"/>
            <a:ext cx="8686800" cy="561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06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9FCE9-CEA9-474A-B828-BAB00D6EE047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               RESULTS AND DISCUSSION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562100"/>
            <a:ext cx="8305800" cy="37338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  <a:defRPr sz="1100"/>
            </a:pPr>
            <a:r>
              <a:t>ACCEPTANCE CRITERIA VERIFICATION MATRIX:</a:t>
            </a:r>
            <a:br/>
            <a:br/>
            <a:r>
              <a:t>• TC-01 [Grievance Submission]: Lodged hostel issue with photo -&gt; Tracking code CMP-8F42A1 generated, 48h timer active. [PASSED]</a:t>
            </a:r>
            <a:br/>
            <a:br/>
            <a:r>
              <a:t>• TC-02 [Level-2 Auto-Escalation]: 25h elapsed age simulated -&gt; Escalation level auto-promoted from Coordinator to HOD. [PASSED]</a:t>
            </a:r>
            <a:br/>
            <a:br/>
            <a:r>
              <a:t>• TC-03 [Level-3 Auto-Escalation]: 49h elapsed age simulated -&gt; Escalation level auto-promoted to DEAN with priority alert. [PASSED]</a:t>
            </a:r>
            <a:br/>
            <a:br/>
            <a:r>
              <a:t>• TC-04 [Anti-Bypass Protection]: Staff attempted direct ticket resolution without rating -&gt; Rejected with HTTP 400 Bad Request. [PASSED]</a:t>
            </a:r>
            <a:br/>
            <a:br/>
            <a:r>
              <a:t>• TC-05 [Closed-Loop Verification]: Student submitted 5-star rating -&gt; Status permanently transitioned to RESOLVED. [PASSED]</a:t>
            </a:r>
            <a:br/>
            <a:br/>
            <a:r>
              <a:t>• TC-06 [Security]: SQL Injection payload in login email -&gt; Safely parameterized by PreparedStatement; rejected with 401. [PASSED]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43424-EC82-CB7F-E4BE-A62D763905F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5862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DB275-AA56-4323-9F15-4DC35AD9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A565-DCC2-4322-8924-3EFF3032CF26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26F5-95FF-4362-BD46-4B37F490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7786B90-7694-48B9-8C6F-7A47D1BC4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3890"/>
            <a:ext cx="7391400" cy="4676536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8F9E99E-9C41-4A6B-85F9-713434E17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/>
          </a:bodyPr>
          <a:lstStyle/>
          <a:p>
            <a:pPr>
              <a:defRPr sz="2000" b="1"/>
            </a:pPr>
            <a:r>
              <a:t>PERFORMANCE BENCHMARKS &amp; STORAGE OPTIMIZATION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5D31A-B3F7-2582-1910-0D19BF81BFB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71800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  <p:pic>
        <p:nvPicPr>
          <p:cNvPr id="13" name="Picture 12" descr="fig4_benchmar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9144000" cy="409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38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DB275-AA56-4323-9F15-4DC35AD9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E46D-727D-4065-B06F-C639051A867C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526F5-95FF-4362-BD46-4B37F490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FF2FE22-78D4-45D1-B52D-56C1601226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57" y="1371600"/>
            <a:ext cx="7282686" cy="4525963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41E12CF-CA42-41E0-9410-74080DD3B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685800"/>
          </a:xfrm>
        </p:spPr>
        <p:txBody>
          <a:bodyPr>
            <a:normAutofit/>
          </a:bodyPr>
          <a:lstStyle/>
          <a:p>
            <a:pPr>
              <a:defRPr sz="2000" b="1"/>
            </a:pPr>
            <a:r>
              <a:t>ENGINEERING CHALLENGES &amp; PRODUCTION BUG FIXES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624BA-8821-4F34-91E5-A3CAA40321C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80537" y="6477000"/>
            <a:ext cx="3429000" cy="365125"/>
          </a:xfrm>
        </p:spPr>
        <p:txBody>
          <a:bodyPr/>
          <a:lstStyle/>
          <a:p>
            <a:r>
              <a:rPr lang="en-US"/>
              <a:t>Department of Computer Science and Engineering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1. Bug 1: Base64 Photo Attachment Truncation</a:t>
            </a:r>
            <a:br/>
            <a:r>
              <a:t>   • Issue: Saving mobile photos failed with 'Data truncation for column attachment_path'.</a:t>
            </a:r>
            <a:br/>
            <a:r>
              <a:t>   • Root Cause: Base64 string length exceeded standard VARCHAR(255) capacity.</a:t>
            </a:r>
            <a:br/>
            <a:r>
              <a:t>   • Resolution: Altered column to MySQL LONGTEXT and implemented in-browser HTML5 canvas downsampling to max 1200px (saving 98.5% space).</a:t>
            </a:r>
            <a:br/>
            <a:br/>
            <a:r>
              <a:t>2. Bug 2: Database Connection Refusal (HY000/2002)</a:t>
            </a:r>
            <a:br/>
            <a:r>
              <a:t>   • Issue: phpMyAdmin and Java backend failed to connect to MySQL daemon.</a:t>
            </a:r>
            <a:br/>
            <a:r>
              <a:t>   • Root Cause: Windows MariaDB daemon crashed during system restart.</a:t>
            </a:r>
            <a:br/>
            <a:r>
              <a:t>   • Resolution: Configured mysqld with explicit defaults-file console logging and persistent auto-start.</a:t>
            </a:r>
            <a:br/>
            <a:br/>
            <a:r>
              <a:t>3. Bug 3: Thread-Safety &amp; Concurrent Updates</a:t>
            </a:r>
            <a:br/>
            <a:r>
              <a:t>   • Issue: Escalation daemon and staff actions caused race conditions on ticket status.</a:t>
            </a:r>
            <a:br/>
            <a:r>
              <a:t>   • Resolution: Encapsulated DAO queries in transactional PreparedStatements with atomic WHERE status = 'ACTION_TAKEN' locks.</a:t>
            </a:r>
          </a:p>
        </p:txBody>
      </p:sp>
    </p:spTree>
    <p:extLst>
      <p:ext uri="{BB962C8B-B14F-4D97-AF65-F5344CB8AC3E}">
        <p14:creationId xmlns:p14="http://schemas.microsoft.com/office/powerpoint/2010/main" val="3288510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885E8-0A0F-4540-B8F3-17E0B3611BF8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685800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       </a:t>
            </a:r>
            <a:r>
              <a:rPr lang="en-US" sz="4000" b="1" dirty="0">
                <a:solidFill>
                  <a:srgbClr val="C00000"/>
                </a:solidFill>
                <a:cs typeface="Arial" pitchFamily="34" charset="0"/>
              </a:rPr>
              <a:t>CONCLUSION &amp; FUTURE WORK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1148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 sz="1200"/>
            </a:pPr>
            <a:r>
              <a:t>KEY ACCOMPLISHMENTS:</a:t>
            </a:r>
            <a:br/>
            <a:r>
              <a:t>• Full-Stack Mastery: Engineered end-to-end web system with semantic HTML5, pure Java SE 21, and MySQL 8.0.</a:t>
            </a:r>
            <a:br/>
            <a:r>
              <a:t>• Process Automation: Proved algorithmic 48-hour SLA timers solve campus grievance bottlenecks with zero human bias.</a:t>
            </a:r>
            <a:br/>
            <a:r>
              <a:t>• Closed-Loop Governance: Replaced arbitrary staff closures with verifiable student satisfaction rating locks.</a:t>
            </a:r>
            <a:br/>
            <a:r>
              <a:t>• Zero-Framework Efficiency: Demonstrated high-performance computing without heavy framework overhead.</a:t>
            </a:r>
            <a:br/>
            <a:br/>
            <a:r>
              <a:t>FUTURE AI/ML ENHANCEMENTS:</a:t>
            </a:r>
            <a:br/>
            <a:r>
              <a:t>• AI Duplicate Clustering: Sentence-Transformer NLP embeddings to cluster and merge duplicate campus tickets.</a:t>
            </a:r>
            <a:br/>
            <a:r>
              <a:t>• Computer Vision Verification: OpenCV / YOLO models comparing before/after maintenance photos.</a:t>
            </a:r>
            <a:br/>
            <a:r>
              <a:t>• Cross-Platform Mobile App: Native Flutter client with offline SQLite caching.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3A858-9A09-75E4-083D-37964AB27CA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33700" y="647700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284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6D66E7F-DEC1-45A0-8E19-12F87E4C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  <a:cs typeface="Arial" pitchFamily="34" charset="0"/>
              </a:rPr>
              <a:t>REFERENCES</a:t>
            </a:r>
            <a:endParaRPr lang="en-IN" sz="36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48B1995-2397-40B6-8D46-85CDDE3A2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" y="1752600"/>
            <a:ext cx="8229600" cy="3352800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  <a:defRPr sz="1150"/>
            </a:pPr>
            <a:r>
              <a:t>1. Sanjai, H. (2026). Smart Complaint &amp; Grievance Redressal Portal: Open-Source Codebase.</a:t>
            </a:r>
            <a:br/>
            <a:r>
              <a:t>   GitHub Repository: https://github.com/sanjai-19/smart-complaint-portal</a:t>
            </a:r>
            <a:br/>
            <a:br/>
            <a:r>
              <a:t>2. Oracle Corporation. (2024). Java SE 21 LTS Specification: com.sun.net.httpserver Package.</a:t>
            </a:r>
            <a:br/>
            <a:br/>
            <a:r>
              <a:t>3. MySQL AB. (2024). MySQL 8.0 Reference Manual: InnoDB Engine &amp; Transaction Isolation.</a:t>
            </a:r>
            <a:br/>
            <a:br/>
            <a:r>
              <a:t>4. Provos, N., &amp; Mazières, D. (1999). A Future-Adaptable Password Scheme (BCrypt Cryptography).</a:t>
            </a:r>
            <a:br/>
            <a:br/>
            <a:r>
              <a:t>5. Fielding, R. T. (2000). Architectural Styles and the Design of Network-based Software Architectures.</a:t>
            </a:r>
            <a:br/>
            <a:br/>
            <a:r>
              <a:t>6. Sathyabama Institute of Science and Technology. (2026). Dept of CSE (AI) Capstone Rubric.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D1CBF-2A96-43DD-8DC9-9DB6822F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57493-1C8C-4A3E-BCCA-11B2040A1BF5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27FD1-9FC2-420E-9264-EA7A9A06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1E2B5-4820-CC59-842B-AFA5E602AC7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95600" y="6446837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9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E30F7-CE19-4B37-83CB-B7735D94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C0C02-280B-4F3B-9249-E4F997E28E2C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81BC7-D526-441E-9955-3396619E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D7370-7085-4FB8-8DCE-ED8FA641FC1E}"/>
              </a:ext>
            </a:extLst>
          </p:cNvPr>
          <p:cNvSpPr txBox="1"/>
          <p:nvPr/>
        </p:nvSpPr>
        <p:spPr>
          <a:xfrm>
            <a:off x="215452" y="381000"/>
            <a:ext cx="792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SMART COMPLAINT &amp; GRIEVANCE REDRESSAL PORTAL</a:t>
            </a:r>
          </a:p>
        </p:txBody>
      </p:sp>
      <p:pic>
        <p:nvPicPr>
          <p:cNvPr id="1026" name="Picture 2" descr="Q&amp;amp;A with Evan Lamolinara: Selling in a Time of Crisis">
            <a:extLst>
              <a:ext uri="{FF2B5EF4-FFF2-40B4-BE49-F238E27FC236}">
                <a16:creationId xmlns:a16="http://schemas.microsoft.com/office/drawing/2014/main" id="{7B822DF8-10EE-4838-8546-F5EAD6DB7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494" y="3200400"/>
            <a:ext cx="4331493" cy="231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2EB4D-88EA-D47D-263F-9EA8F37319D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857500" y="6469690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  <p:sp>
        <p:nvSpPr>
          <p:cNvPr id="1027" name="TextBox 1026"/>
          <p:cNvSpPr txBox="1"/>
          <p:nvPr/>
        </p:nvSpPr>
        <p:spPr>
          <a:xfrm>
            <a:off x="1371600" y="2286000"/>
            <a:ext cx="9418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CANDIDATE PROFILE &amp; PROJECT DETAILS:</a:t>
            </a:r>
            <a:br/>
            <a:br/>
            <a:r>
              <a:t>• Student Lead: H Sanjai (Register Number: 44731076)</a:t>
            </a:r>
            <a:br/>
            <a:r>
              <a:t>• Degree: Bachelor of Engineering in Computer Science and Engineering (Artificial Intelligence)</a:t>
            </a:r>
            <a:br/>
            <a:r>
              <a:t>• Batch &amp; Year: 2024 – 2028 / 3rd Year</a:t>
            </a:r>
            <a:br/>
            <a:r>
              <a:t>• Institution: Sathyabama Institute of Science and Technology (SIST), Chennai</a:t>
            </a:r>
            <a:br/>
            <a:r>
              <a:t>• Internal Guide: Ms. R. Shanumgaa Priya, M.E.</a:t>
            </a:r>
            <a:br/>
            <a:r>
              <a:t>• Live Demonstration: Java SE 21 HTTP Server (Port 8080) &amp; MySQL 8.0 (Port 3306)</a:t>
            </a:r>
          </a:p>
        </p:txBody>
      </p:sp>
    </p:spTree>
    <p:extLst>
      <p:ext uri="{BB962C8B-B14F-4D97-AF65-F5344CB8AC3E}">
        <p14:creationId xmlns:p14="http://schemas.microsoft.com/office/powerpoint/2010/main" val="353855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47DE25-20B9-4305-B47C-480F46A3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3400"/>
            <a:ext cx="8229600" cy="822357"/>
          </a:xfrm>
        </p:spPr>
        <p:txBody>
          <a:bodyPr>
            <a:normAutofit fontScale="90000"/>
          </a:bodyPr>
          <a:lstStyle/>
          <a:p>
            <a:pPr>
              <a:defRPr sz="2400" b="1"/>
            </a:pPr>
            <a:r>
              <a:t>THANK YOU &amp; VIVA DEFENSE Q&amp;A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A22C1-60C2-4D5B-A610-694C147D4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BE68C-FBAC-4C0D-BD35-CE8943CBDA28}" type="datetime3">
              <a:rPr lang="en-US" smtClean="0"/>
              <a:t>22 September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E045D-144D-4F99-ADE1-D7B18AF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406EB4F-68AF-4A71-B01E-587AC0EB6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050" y="2667000"/>
            <a:ext cx="6011905" cy="2225707"/>
          </a:xfr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F98646-4A60-42C1-9936-B559100147A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2931502" y="6492875"/>
            <a:ext cx="3429000" cy="365125"/>
          </a:xfrm>
        </p:spPr>
        <p:txBody>
          <a:bodyPr/>
          <a:lstStyle/>
          <a:p>
            <a:r>
              <a:rPr lang="en-US" dirty="0"/>
              <a:t>Department of Computer Science and Engineering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286000" y="292608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Smart Complaint &amp; Grievance Redressal Portal</a:t>
            </a:r>
            <a:br/>
            <a:br/>
            <a:r>
              <a:t>Presented by: H Sanjai (44731076)</a:t>
            </a:r>
            <a:br/>
            <a:r>
              <a:t>B.E. CSE (Artificial Intelligence) | SIST</a:t>
            </a:r>
            <a:br/>
            <a:br/>
            <a:r>
              <a:t>🎤 Open for Viva Defense Questions &amp; Evaluator Feedback</a:t>
            </a:r>
          </a:p>
        </p:txBody>
      </p:sp>
    </p:spTree>
    <p:extLst>
      <p:ext uri="{BB962C8B-B14F-4D97-AF65-F5344CB8AC3E}">
        <p14:creationId xmlns:p14="http://schemas.microsoft.com/office/powerpoint/2010/main" val="258364768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845</Words>
  <Application>Microsoft Office PowerPoint</Application>
  <PresentationFormat>On-screen Show (4:3)</PresentationFormat>
  <Paragraphs>140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Custom Design</vt:lpstr>
      <vt:lpstr>PowerPoint Presentation</vt:lpstr>
      <vt:lpstr>                PRESENTATION OUTLINE</vt:lpstr>
      <vt:lpstr>COURSE CERTIFICATE</vt:lpstr>
      <vt:lpstr>ABSTRACT</vt:lpstr>
      <vt:lpstr>                           OBJECTIVES</vt:lpstr>
      <vt:lpstr>                  SYSTEM ARCHITECTURE</vt:lpstr>
      <vt:lpstr>HARDWARE AND SOFTWARE REQUIREMENTS</vt:lpstr>
      <vt:lpstr>  DATASET DESCRIPTION</vt:lpstr>
      <vt:lpstr>CLASSIFICATION ALGORTIHM</vt:lpstr>
      <vt:lpstr>               RESULTS AND DISCUSSION</vt:lpstr>
      <vt:lpstr>               RESULTS AND DISCUSSION</vt:lpstr>
      <vt:lpstr>               RESULTS AND DISCUSSION</vt:lpstr>
      <vt:lpstr>        CONCLUSION &amp; FUTURE WORK </vt:lpstr>
      <vt:lpstr>REFERENCES</vt:lpstr>
      <vt:lpstr>PowerPoint Presentation</vt:lpstr>
      <vt:lpstr>EARLY-STAGE DIABETES RISK PREDICTION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R.Sathya Bama</dc:creator>
  <cp:lastModifiedBy>SANJAI H</cp:lastModifiedBy>
  <cp:revision>150</cp:revision>
  <dcterms:created xsi:type="dcterms:W3CDTF">2019-11-06T07:48:53Z</dcterms:created>
  <dcterms:modified xsi:type="dcterms:W3CDTF">2026-09-22T10:09:18Z</dcterms:modified>
</cp:coreProperties>
</file>