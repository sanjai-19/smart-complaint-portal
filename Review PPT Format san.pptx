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61" r:id="rId2"/>
    <p:sldId id="290" r:id="rId3"/>
    <p:sldId id="301" r:id="rId4"/>
    <p:sldId id="293" r:id="rId5"/>
    <p:sldId id="279" r:id="rId6"/>
    <p:sldId id="281" r:id="rId7"/>
    <p:sldId id="282" r:id="rId8"/>
    <p:sldId id="294" r:id="rId9"/>
    <p:sldId id="298" r:id="rId10"/>
    <p:sldId id="284" r:id="rId11"/>
    <p:sldId id="297" r:id="rId12"/>
    <p:sldId id="299" r:id="rId13"/>
    <p:sldId id="285" r:id="rId14"/>
    <p:sldId id="300" r:id="rId15"/>
    <p:sldId id="303" r:id="rId16"/>
    <p:sldId id="30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DAY KIRAN PALAGIRI" initials="UKP" lastIdx="1" clrIdx="0">
    <p:extLst>
      <p:ext uri="{19B8F6BF-5375-455C-9EA6-DF929625EA0E}">
        <p15:presenceInfo xmlns:p15="http://schemas.microsoft.com/office/powerpoint/2012/main" userId="e472569547126c1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590" autoAdjust="0"/>
  </p:normalViewPr>
  <p:slideViewPr>
    <p:cSldViewPr>
      <p:cViewPr varScale="1">
        <p:scale>
          <a:sx n="78" d="100"/>
          <a:sy n="78" d="100"/>
        </p:scale>
        <p:origin x="160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2FC0-3A6E-4FDF-98C7-05D53ADA3185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5A7B-879F-45B5-9291-0F55AE53DB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1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44B48-72A2-4A15-9A9B-0DA2BF7C6B02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38FA3-189B-4AA8-9E46-1FED810FB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16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290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7523-A487-4FE9-8778-92BDA7517582}" type="datetime3">
              <a:rPr lang="en-US" smtClean="0"/>
              <a:t>22 September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367A52-E3CF-44E7-B0BD-2053F5B1601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356350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6978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EC64D-F80B-464F-89C3-2C0C7C294EBF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885EDBD-DC0D-4DCF-81FB-0320C8338C0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06661" y="6356350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8314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F65C4-3BB2-4B01-820C-4E42CDD2D7BA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8E260E4-5885-4162-9A9B-BD4B1C73E96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94013" y="6389431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4409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3940-8A3E-4B8C-BA89-72544308E101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8B22EFA-7C55-4B48-8CEC-77BD23D1F9A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390968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1790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ED70D-4F90-46A2-A4D5-86B0366C7C54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4314DE0-B936-4362-B52E-B063EB0F5BB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382722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4034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4E7F-8CFC-484D-B36C-9771C89F821F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8CB0626-7066-48BC-A8A8-03E38DC766B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356349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88019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36F411-3972-A5E9-8F49-58607FEB308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201412"/>
            <a:ext cx="812675" cy="96960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F92B4-9B1E-4C15-8CEE-666DADDF8AF0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8940" y="177143"/>
            <a:ext cx="8610600" cy="655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98940" y="1219200"/>
            <a:ext cx="8610600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31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chive.ics.uci.edu/ml/datasets/Early+stage+diabetes+risk+prediction+dataset" TargetMode="External"/><Relationship Id="rId3" Type="http://schemas.openxmlformats.org/officeDocument/2006/relationships/hyperlink" Target="https://www.healthline.com/health/diabetes" TargetMode="External"/><Relationship Id="rId4" Type="http://schemas.openxmlformats.org/officeDocument/2006/relationships/hyperlink" Target="https://towardsdatascience.com/understanding-random-forest-58381e0602d2" TargetMode="External"/><Relationship Id="rId5" Type="http://schemas.openxmlformats.org/officeDocument/2006/relationships/hyperlink" Target="https://scikit-learn.org/stable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641497" y="2209800"/>
            <a:ext cx="7924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Subject Code</a:t>
            </a:r>
          </a:p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 I - INTERDISCIPLINARY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09198"/>
            <a:ext cx="5112490" cy="1529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 b="1">
                <a:latin typeface="Arial"/>
              </a:defRPr>
            </a:pPr>
            <a:r>
              <a:t>1. H Sanjai [ Reg.No. : 44731076 ] (Solo Lead)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BD4C8-8F1C-450E-98BD-5D7694189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7F4B-9193-457D-9817-7BB1C17946D0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C4EB7-8EDB-4EBE-9273-5F8107C6B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2" name="image2.jpeg">
            <a:extLst>
              <a:ext uri="{FF2B5EF4-FFF2-40B4-BE49-F238E27FC236}">
                <a16:creationId xmlns:a16="http://schemas.microsoft.com/office/drawing/2014/main" id="{41D730E6-1A36-D6AA-9C57-707732AD6B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028" y="183642"/>
            <a:ext cx="8598195" cy="1843595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0983F1-418B-F172-25AC-56A554474B23}"/>
              </a:ext>
            </a:extLst>
          </p:cNvPr>
          <p:cNvSpPr txBox="1"/>
          <p:nvPr/>
        </p:nvSpPr>
        <p:spPr>
          <a:xfrm>
            <a:off x="2251445" y="3988369"/>
            <a:ext cx="46411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SMART COMPLAINT &amp; GRIEVANCE REDRESSAL PORTAL</a:t>
            </a:r>
            <a:endParaRPr lang="en-IN" sz="3200" dirty="0"/>
          </a:p>
          <a:p>
            <a:pPr>
              <a:defRPr sz="1600" b="1">
                <a:latin typeface="Arial"/>
              </a:defRPr>
            </a:pPr>
            <a:r>
              <a:t>(Hierarchical Campus Grievance Redressal &amp; SLA Auto-Escalation Web Platform)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4EFADC-5F7F-0D34-EF41-FCA8211454DE}"/>
              </a:ext>
            </a:extLst>
          </p:cNvPr>
          <p:cNvSpPr txBox="1"/>
          <p:nvPr/>
        </p:nvSpPr>
        <p:spPr>
          <a:xfrm>
            <a:off x="5410200" y="5293702"/>
            <a:ext cx="4641110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 b="1">
                <a:latin typeface="Arial"/>
              </a:defRPr>
            </a:pPr>
            <a:r>
              <a:t>Internal Guide</a:t>
            </a:r>
          </a:p>
          <a:p>
            <a:pPr>
              <a:defRPr sz="1300" b="1">
                <a:latin typeface="Arial"/>
              </a:defRPr>
            </a:pPr>
            <a:r>
              <a:t>Ms. R. Shanumgaa Priya, M.E.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4E8BE6-5A97-DF17-64D3-651EDD17C77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89398" y="6419380"/>
            <a:ext cx="3429000" cy="365125"/>
          </a:xfrm>
        </p:spPr>
        <p:txBody>
          <a:bodyPr wrap="square"/>
          <a:lstStyle/>
          <a:p>
            <a:pPr>
              <a:defRPr sz="1000" b="0">
                <a:latin typeface="Arial"/>
              </a:defRPr>
            </a:pPr>
            <a:r>
              <a:t>Department of Computer Science and Engineering (Artificial Intelligence)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98525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cs typeface="Arial" pitchFamily="34" charset="0"/>
              </a:rPr>
              <a:t>                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8229600" cy="5105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COURSE CERTIFICATE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ABSTRACT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SYSTEM ARCHITECTURE 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PROJECT IMPLEMENTATION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RESULTS AND DISCUSSIONS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RESULT SNAPSHOTS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CONCLUSION &amp; FUTURE WORK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REFERENCES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FFE7-5AD9-46B6-A975-97DF4CE2D32E}" type="datetime3">
              <a:rPr lang="en-US" smtClean="0"/>
              <a:t>22 September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1BDC-9B67-430D-970A-E36C7517514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6745B3-6D82-53EF-2AF2-EA2FFE738CD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68256" y="6477000"/>
            <a:ext cx="3429000" cy="365125"/>
          </a:xfrm>
        </p:spPr>
        <p:txBody>
          <a:bodyPr wrap="square"/>
          <a:lstStyle/>
          <a:p>
            <a:pPr>
              <a:defRPr sz="1000" b="0">
                <a:latin typeface="Arial"/>
              </a:defRPr>
            </a:pPr>
            <a:r>
              <a:t>Department of Computer Science and Engineering (Artificial Intelligence)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87AFF-3BB7-4D8A-B9C5-8F3B0AEE6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2575"/>
            <a:ext cx="8229600" cy="83820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</a:rPr>
              <a:t>COURSE CERTIFICATE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9D9BB-15EC-4B1C-83FD-B26D5A91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A4416-FFF4-42E4-AE7E-59EC91C8B19B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5E134-5B36-43B6-B88A-0BD46D9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99574-1770-CCF1-7960-2BEABBE58EC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71800" y="6490955"/>
            <a:ext cx="3429000" cy="365125"/>
          </a:xfrm>
        </p:spPr>
        <p:txBody>
          <a:bodyPr wrap="square"/>
          <a:lstStyle/>
          <a:p>
            <a:pPr>
              <a:defRPr sz="1000" b="0">
                <a:latin typeface="Arial"/>
              </a:defRPr>
            </a:pPr>
            <a:r>
              <a:t>Department of Computer Science and Engineering (Artificial Intelligence)</a:t>
            </a:r>
            <a:endParaRPr lang="en-US" b="1" dirty="0"/>
          </a:p>
        </p:txBody>
      </p:sp>
      <p:pic>
        <p:nvPicPr>
          <p:cNvPr id="7" name="Picture 6" descr="course_certific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95400"/>
            <a:ext cx="7620000" cy="506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975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E11B5-EF77-467A-8E2A-BB4AD0D87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82575"/>
            <a:ext cx="8229600" cy="83820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F7A90-AAE4-4CE3-8BFD-8CCF7FBE1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13" y="914400"/>
            <a:ext cx="8229600" cy="5943600"/>
          </a:xfrm>
        </p:spPr>
        <p:txBody>
          <a:bodyPr wrap="square">
            <a:normAutofit/>
          </a:bodyPr>
          <a:lstStyle/>
          <a:p>
            <a:pPr>
              <a:defRPr sz="1250" b="0">
                <a:latin typeface="Arial"/>
              </a:defRPr>
            </a:pPr>
            <a:r>
              <a:t>• Campus grievance redressal in higher educational institutions is traditionally fragmented across paper suggestion boxes, unmonitored WhatsApp chats, and email inboxes, leading to lost complaints and zero accountability.</a:t>
            </a:r>
            <a:endParaRPr lang="en-US" sz="2000" dirty="0"/>
          </a:p>
          <a:p>
            <a:pPr>
              <a:defRPr sz="1250" b="0">
                <a:latin typeface="Arial"/>
              </a:defRPr>
            </a:pPr>
          </a:p>
          <a:p>
            <a:pPr>
              <a:defRPr sz="1250" b="0">
                <a:latin typeface="Arial"/>
              </a:defRPr>
            </a:pPr>
            <a:r>
              <a:t>• The Smart Complaint &amp; Grievance Redressal Portal is an enterprise 3-tier web platform engineered in pure Java SE 21, MySQL 8.0, and responsive Bootstrap 5.</a:t>
            </a:r>
          </a:p>
          <a:p>
            <a:pPr>
              <a:defRPr sz="1250" b="0">
                <a:latin typeface="Arial"/>
              </a:defRPr>
            </a:pPr>
          </a:p>
          <a:p>
            <a:pPr>
              <a:defRPr sz="1250" b="0">
                <a:latin typeface="Arial"/>
              </a:defRPr>
            </a:pPr>
            <a:r>
              <a:t>• Core Capabilities: (1) Automated Priority Routing, (2) Real-Time 48-Hour SLA Countdown Timers, (3) Autonomous Multi-Tier Escalation (Coordinator -&gt; HOD -&gt; Dean), and (4) Anti-Bypass Closed-Loop Student Rating Verification Lock.</a:t>
            </a:r>
          </a:p>
          <a:p>
            <a:pPr>
              <a:defRPr sz="1250" b="0">
                <a:latin typeface="Arial"/>
              </a:defRPr>
            </a:pPr>
          </a:p>
          <a:p>
            <a:pPr>
              <a:defRPr sz="1250" b="0">
                <a:latin typeface="Arial"/>
              </a:defRPr>
            </a:pPr>
            <a:r>
              <a:t>• Zero-Framework Lean Architecture: Sub-400ms startup latency and 98.5% payload reduction via client-side canvas downsampling.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BA610-CC19-4227-B31D-DD5952D51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00E5-8FBA-4669-8911-1EAA60C3401A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8A523-CF78-4D69-9924-645284BC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A1AAA5E-D5FD-7E5B-80B1-E5B7C77D78D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492875"/>
            <a:ext cx="3429000" cy="365125"/>
          </a:xfrm>
        </p:spPr>
        <p:txBody>
          <a:bodyPr wrap="square"/>
          <a:lstStyle/>
          <a:p>
            <a:pPr>
              <a:defRPr sz="1000" b="0">
                <a:latin typeface="Arial"/>
              </a:defRPr>
            </a:pPr>
            <a:r>
              <a:t>Department of Computer Science and Engineering (Artificial Intelligence)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96121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23FFF-DA4F-427A-BFC2-8006A10DFA1E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95300" y="381000"/>
            <a:ext cx="8229600" cy="65563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cs typeface="Arial" pitchFamily="34" charset="0"/>
              </a:rPr>
              <a:t>                           OBJECTIVES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153400" cy="5715000"/>
          </a:xfrm>
        </p:spPr>
        <p:txBody>
          <a:bodyPr wrap="square">
            <a:normAutofit fontScale="40000" lnSpcReduction="20000"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/>
              <a:defRPr sz="1200" b="0">
                <a:latin typeface="Arial"/>
              </a:defRPr>
            </a:pPr>
            <a:r>
              <a:t>1. Rapid Filing: Enable students to submit categorized campus grievances with photo attachments in under 60 seconds.</a:t>
            </a:r>
          </a:p>
          <a:p>
            <a:pPr>
              <a:defRPr sz="1200" b="0">
                <a:latin typeface="Arial"/>
              </a:defRPr>
            </a:pPr>
          </a:p>
          <a:p>
            <a:pPr>
              <a:defRPr sz="1200" b="0">
                <a:latin typeface="Arial"/>
              </a:defRPr>
            </a:pPr>
            <a:r>
              <a:t>2. Zero-Framework Backend: Build a high-throughput REST HTTP server using native Java SE 21 with sub-second startup.</a:t>
            </a:r>
          </a:p>
          <a:p>
            <a:pPr>
              <a:defRPr sz="1200" b="0">
                <a:latin typeface="Arial"/>
              </a:defRPr>
            </a:pPr>
          </a:p>
          <a:p>
            <a:pPr>
              <a:defRPr sz="1200" b="0">
                <a:latin typeface="Arial"/>
              </a:defRPr>
            </a:pPr>
            <a:r>
              <a:t>3. Enforced 48-Hour SLA: Implement an automated background ScheduledExecutorService daemon that autonomously escalates tickets upon SLA breach.</a:t>
            </a:r>
          </a:p>
          <a:p>
            <a:pPr>
              <a:defRPr sz="1200" b="0">
                <a:latin typeface="Arial"/>
              </a:defRPr>
            </a:pPr>
          </a:p>
          <a:p>
            <a:pPr>
              <a:defRPr sz="1200" b="0">
                <a:latin typeface="Arial"/>
              </a:defRPr>
            </a:pPr>
            <a:r>
              <a:t>4. 3NF Relational Integrity: Model MySQL database in 3NF with cascading foreign keys and PreparedStatement defense.</a:t>
            </a:r>
          </a:p>
          <a:p>
            <a:pPr>
              <a:defRPr sz="1200" b="0">
                <a:latin typeface="Arial"/>
              </a:defRPr>
            </a:pPr>
          </a:p>
          <a:p>
            <a:pPr>
              <a:defRPr sz="1200" b="0">
                <a:latin typeface="Arial"/>
              </a:defRPr>
            </a:pPr>
            <a:r>
              <a:t>5. Closed-Loop Student Rating: Enforce an anti-bypass state lock where grievances can only resolve after the complainant submits a 1-to-5 star rating.</a:t>
            </a:r>
          </a:p>
          <a:p>
            <a:pPr>
              <a:defRPr sz="1200" b="0">
                <a:latin typeface="Arial"/>
              </a:defRPr>
            </a:pPr>
          </a:p>
          <a:p>
            <a:pPr>
              <a:defRPr sz="1200" b="0">
                <a:latin typeface="Arial"/>
              </a:defRPr>
            </a:pPr>
            <a:r>
              <a:t>6. Client-Side Image Compression: Downsample mobile camera uploads from 8 MB to &lt;120 KB using HTML5 canvas.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8E0C94-068A-A184-2CC7-47F5BC2E8A7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477000"/>
            <a:ext cx="3429000" cy="365125"/>
          </a:xfrm>
        </p:spPr>
        <p:txBody>
          <a:bodyPr wrap="square"/>
          <a:lstStyle/>
          <a:p>
            <a:pPr>
              <a:defRPr sz="1000" b="0">
                <a:latin typeface="Arial"/>
              </a:defRPr>
            </a:pPr>
            <a:r>
              <a:t>Department of Computer Science and Engineering (Artificial Intelligence)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85972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82009" y="285398"/>
            <a:ext cx="8229600" cy="809711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cs typeface="Arial" pitchFamily="34" charset="0"/>
              </a:rPr>
              <a:t>                  SYSTEM ARCHITECTURE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3844-EC52-4193-8255-2E1481849864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D294ADC-2A46-4501-88FF-41E51214F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115" y="1905803"/>
            <a:ext cx="4423930" cy="2895636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7C08D3-7A1F-0943-F691-6795272BBF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82309" y="6390039"/>
            <a:ext cx="3429000" cy="36512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 b="1" dirty="0"/>
          </a:p>
        </p:txBody>
      </p:sp>
      <p:pic>
        <p:nvPicPr>
          <p:cNvPr id="11" name="Picture 10" descr="fig1_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540" y="1552489"/>
            <a:ext cx="38862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52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9AA73-1308-443C-A46F-0039F1036F17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655638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cs typeface="Arial" pitchFamily="34" charset="0"/>
              </a:rPr>
              <a:t>HARDWARE AND SOFTWARE REQUIREMENTS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8305800" cy="5638800"/>
          </a:xfr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  <a:defRPr sz="1150" b="0">
                <a:latin typeface="Arial"/>
              </a:defRPr>
            </a:pPr>
            <a:r>
              <a:t>Software Requirements:</a:t>
            </a:r>
          </a:p>
          <a:p>
            <a:pPr>
              <a:defRPr sz="1150" b="0">
                <a:latin typeface="Arial"/>
              </a:defRPr>
            </a:pPr>
            <a:r>
              <a:t>• Runtime &amp; JDK: Oracle OpenJDK 21 LTS (64-bit)</a:t>
            </a:r>
          </a:p>
          <a:p>
            <a:pPr>
              <a:defRPr sz="1150" b="0">
                <a:latin typeface="Arial"/>
              </a:defRPr>
            </a:pPr>
            <a:r>
              <a:t>• Relational Database: MySQL Server 8.0 / MariaDB 10.4 (InnoDB Engine)</a:t>
            </a:r>
          </a:p>
          <a:p>
            <a:pPr>
              <a:defRPr sz="1150" b="0">
                <a:latin typeface="Arial"/>
              </a:defRPr>
            </a:pPr>
            <a:r>
              <a:t>• Web Interface: Semantic HTML5, CSS3, JavaScript (ES6+), Bootstrap 5.3</a:t>
            </a:r>
          </a:p>
          <a:p>
            <a:pPr>
              <a:defRPr sz="1150" b="0">
                <a:latin typeface="Arial"/>
              </a:defRPr>
            </a:pPr>
            <a:r>
              <a:t>• Core Libraries: com.google.code.gson:gson:2.10.1, org.mindrot:jbcrypt:0.4</a:t>
            </a:r>
          </a:p>
          <a:p>
            <a:pPr>
              <a:defRPr sz="1150" b="0">
                <a:latin typeface="Arial"/>
              </a:defRPr>
            </a:pPr>
            <a:r>
              <a:t>• Development Tools: Apache Maven 3.9, Postman REST Client, IntelliJ IDEA</a:t>
            </a:r>
          </a:p>
          <a:p>
            <a:pPr>
              <a:defRPr sz="1150" b="0">
                <a:latin typeface="Arial"/>
              </a:defRPr>
            </a:pPr>
          </a:p>
          <a:p>
            <a:pPr>
              <a:defRPr sz="1150" b="0">
                <a:latin typeface="Arial"/>
              </a:defRPr>
            </a:pPr>
            <a:r>
              <a:t>Hardware Requirements:</a:t>
            </a:r>
          </a:p>
          <a:p>
            <a:pPr>
              <a:defRPr sz="1150" b="0">
                <a:latin typeface="Arial"/>
              </a:defRPr>
            </a:pPr>
            <a:r>
              <a:t>• Workstation Processor: Intel Core i5 / AMD Ryzen 5 (2.5 GHz+, 6 Cores)</a:t>
            </a:r>
          </a:p>
          <a:p>
            <a:pPr>
              <a:defRPr sz="1150" b="0">
                <a:latin typeface="Arial"/>
              </a:defRPr>
            </a:pPr>
            <a:r>
              <a:t>• System Memory: 16 GB DDR4 RAM | Storage: 512 GB NVMe SSD</a:t>
            </a:r>
          </a:p>
          <a:p>
            <a:pPr>
              <a:defRPr sz="1150" b="0">
                <a:latin typeface="Arial"/>
              </a:defRPr>
            </a:pPr>
            <a:r>
              <a:t>• Client Access: Any standard modern web browser (Chrome, Edge, Safari, Firefox)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ABB034-01EE-2012-106F-5FC5D194826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95600" y="6492875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2648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1DF3B-CCB1-4769-B759-BAB65C5F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229600" cy="854075"/>
          </a:xfrm>
        </p:spPr>
        <p:txBody>
          <a:bodyPr wrap="square">
            <a:normAutofit/>
          </a:bodyPr>
          <a:lstStyle/>
          <a:p>
            <a:pPr>
              <a:defRPr sz="2000" b="1">
                <a:latin typeface="Arial"/>
              </a:defRPr>
            </a:pPr>
            <a:r>
              <a:t>PROJECT IMPLEMENTATION &amp; 3NF SCHEMA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C9B57-DE89-4E88-B948-E8C1FB968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52868"/>
            <a:ext cx="8686800" cy="6629400"/>
          </a:xfrm>
        </p:spPr>
        <p:txBody>
          <a:bodyPr wrap="square">
            <a:normAutofit fontScale="55000" lnSpcReduction="20000"/>
          </a:bodyPr>
          <a:lstStyle/>
          <a:p>
            <a:pPr>
              <a:lnSpc>
                <a:spcPct val="120000"/>
              </a:lnSpc>
              <a:defRPr sz="1200" b="0">
                <a:latin typeface="Arial"/>
              </a:defRPr>
            </a:pPr>
            <a:r>
              <a:t>Implementation Architecture Across 4 Agile SDLC Phases:</a:t>
            </a:r>
          </a:p>
          <a:p>
            <a:pPr>
              <a:defRPr sz="1200" b="0">
                <a:latin typeface="Arial"/>
              </a:defRPr>
            </a:pPr>
          </a:p>
          <a:p>
            <a:pPr>
              <a:defRPr sz="1200" b="0">
                <a:latin typeface="Arial"/>
              </a:defRPr>
            </a:pPr>
            <a:r>
              <a:t>• Phase 1 (Define): Formulated problem statements, user personas (Student, Coordinator, HOD, Dean, Admin), and BDD Given/When/Then acceptance criteria.</a:t>
            </a:r>
          </a:p>
          <a:p>
            <a:pPr>
              <a:defRPr sz="1200" b="0">
                <a:latin typeface="Arial"/>
              </a:defRPr>
            </a:pPr>
          </a:p>
          <a:p>
            <a:pPr>
              <a:defRPr sz="1200" b="0">
                <a:latin typeface="Arial"/>
              </a:defRPr>
            </a:pPr>
            <a:r>
              <a:t>• Phase 2 (Design): Architected 3-tier decoupled model and Third Normal Form (3NF) relational database schema (users, complaints, complaint_actions) with ACID transactional integrity.</a:t>
            </a:r>
          </a:p>
          <a:p>
            <a:pPr>
              <a:defRPr sz="1200" b="0">
                <a:latin typeface="Arial"/>
              </a:defRPr>
            </a:pPr>
          </a:p>
          <a:p>
            <a:pPr>
              <a:defRPr sz="1200" b="0">
                <a:latin typeface="Arial"/>
              </a:defRPr>
            </a:pPr>
            <a:r>
              <a:t>• Phase 3 (Develop): Engineered zero-framework Java SE 21 HttpServer, BCrypt password encryption (work factor 12), and background ScheduledExecutorService SLA daemon.</a:t>
            </a:r>
          </a:p>
          <a:p>
            <a:pPr>
              <a:defRPr sz="1200" b="0">
                <a:latin typeface="Arial"/>
              </a:defRPr>
            </a:pPr>
          </a:p>
          <a:p>
            <a:pPr>
              <a:defRPr sz="1200" b="0">
                <a:latin typeface="Arial"/>
              </a:defRPr>
            </a:pPr>
            <a:r>
              <a:t>• Phase 4 (Deploy): Implemented client-side HTML5 canvas image downsampling (&lt;120 KB), resolved CORS policies, and verified end-to-end integration.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D52CA-C05E-4ED0-93ED-B6BCCCB29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32292-ECE0-431B-8F66-CC00D08E802A}" type="datetime3">
              <a:rPr lang="en-US" smtClean="0"/>
              <a:t>22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BEDBC-8F67-4FF3-B903-352BC604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24B5E61-14AB-CC11-DFAB-854743EEA80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66360" y="6492875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9824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0E070-4E03-4253-AAB0-7FC686122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806449"/>
          </a:xfrm>
        </p:spPr>
        <p:txBody>
          <a:bodyPr wrap="square">
            <a:normAutofit/>
          </a:bodyPr>
          <a:lstStyle/>
          <a:p>
            <a:pPr>
              <a:defRPr sz="2000" b="1">
                <a:latin typeface="Arial"/>
              </a:defRPr>
            </a:pPr>
            <a:r>
              <a:t>PROCESS AUTOMATION &amp; SLA ESCALATION ENGINE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CA8CB-7E9D-4408-91D4-A02B97D49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40" y="1219200"/>
            <a:ext cx="8654359" cy="4952999"/>
          </a:xfrm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  <a:defRPr sz="1200" b="0">
                <a:latin typeface="Arial"/>
              </a:defRPr>
            </a:pPr>
            <a:r>
              <a:t>Algorithmic 48-Hour SLA Governance Engine:</a:t>
            </a:r>
          </a:p>
          <a:p>
            <a:pPr>
              <a:defRPr sz="1200" b="0">
                <a:latin typeface="Arial"/>
              </a:defRPr>
            </a:pPr>
          </a:p>
          <a:p>
            <a:pPr>
              <a:defRPr sz="1200" b="0">
                <a:latin typeface="Arial"/>
              </a:defRPr>
            </a:pPr>
            <a:r>
              <a:t>• Java ScheduledExecutorService: A background daemon awakens hourly to evaluate TIMESTAMPDIFF(HOUR, created_at, NOW()) dynamically.</a:t>
            </a:r>
          </a:p>
          <a:p>
            <a:pPr>
              <a:defRPr sz="1200" b="0">
                <a:latin typeface="Arial"/>
              </a:defRPr>
            </a:pPr>
          </a:p>
          <a:p>
            <a:pPr>
              <a:defRPr sz="1200" b="0">
                <a:latin typeface="Arial"/>
              </a:defRPr>
            </a:pPr>
            <a:r>
              <a:t>• Level 1 (0 to 24 Hours): Grievance routed to Department Coordinator with active countdown timer visible to complainant.</a:t>
            </a:r>
          </a:p>
          <a:p>
            <a:pPr>
              <a:defRPr sz="1200" b="0">
                <a:latin typeface="Arial"/>
              </a:defRPr>
            </a:pPr>
          </a:p>
          <a:p>
            <a:pPr>
              <a:defRPr sz="1200" b="0">
                <a:latin typeface="Arial"/>
              </a:defRPr>
            </a:pPr>
            <a:r>
              <a:t>• Level 2 (24 to 48 Hours): If unaddressed past 24 hours, escalation_level auto-promotes to Head of Department (HOD).</a:t>
            </a:r>
          </a:p>
          <a:p>
            <a:pPr>
              <a:defRPr sz="1200" b="0">
                <a:latin typeface="Arial"/>
              </a:defRPr>
            </a:pPr>
          </a:p>
          <a:p>
            <a:pPr>
              <a:defRPr sz="1200" b="0">
                <a:latin typeface="Arial"/>
              </a:defRPr>
            </a:pPr>
            <a:r>
              <a:t>• Level 3 (Exceeding 48 Hours): If SLA is breached past 48 hours, ticket auto-promotes to Dean / Principal for administrative inquiry.</a:t>
            </a:r>
          </a:p>
          <a:p>
            <a:pPr>
              <a:defRPr sz="1200" b="0">
                <a:latin typeface="Arial"/>
              </a:defRPr>
            </a:pPr>
          </a:p>
          <a:p>
            <a:pPr>
              <a:defRPr sz="1200" b="0">
                <a:latin typeface="Arial"/>
              </a:defRPr>
            </a:pPr>
            <a:r>
              <a:t>• Closed-Loop State Lock: When staff logs action, status moves to ACTION_TAKEN. Direct resolution is strictly blocked until the filing student validates with a 1-to-5 star rating.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8C24B-E153-4BF5-8CBD-FA822331E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ACDA3-B70A-4ED5-8B00-C299AEC5364E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86D35-F971-40BC-B385-31D14C56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FD63E7-5ECC-0A5E-1DFE-140A7ECEFC7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11619" y="6446837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85106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FCE9-CEA9-474A-B828-BAB00D6EE047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6858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cs typeface="Arial" pitchFamily="34" charset="0"/>
              </a:rPr>
              <a:t>               RESULTS AND DISCUSSION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562100"/>
            <a:ext cx="8305800" cy="3733800"/>
          </a:xfrm>
        </p:spPr>
        <p:txBody>
          <a:bodyPr wrap="square">
            <a:normAutofit fontScale="92500" lnSpcReduction="10000"/>
          </a:bodyPr>
          <a:lstStyle/>
          <a:p>
            <a:pPr algn="just">
              <a:lnSpc>
                <a:spcPct val="170000"/>
              </a:lnSpc>
              <a:defRPr sz="1100" b="0">
                <a:latin typeface="Arial"/>
              </a:defRPr>
            </a:pPr>
            <a:r>
              <a:t>Acceptance Criteria Test Execution Results:</a:t>
            </a:r>
          </a:p>
          <a:p>
            <a:pPr>
              <a:defRPr sz="1100" b="0">
                <a:latin typeface="Arial"/>
              </a:defRPr>
            </a:pPr>
          </a:p>
          <a:p>
            <a:pPr>
              <a:defRPr sz="1100" b="0">
                <a:latin typeface="Arial"/>
              </a:defRPr>
            </a:pPr>
            <a:r>
              <a:t>• TC-01 [Grievance Submission]: Lodged hostel issue with photo -&gt; Tracking code CMP-8F42A1 generated; 48h clock active. [PASSED]</a:t>
            </a:r>
          </a:p>
          <a:p>
            <a:pPr>
              <a:defRPr sz="1100" b="0">
                <a:latin typeface="Arial"/>
              </a:defRPr>
            </a:pPr>
          </a:p>
          <a:p>
            <a:pPr>
              <a:defRPr sz="1100" b="0">
                <a:latin typeface="Arial"/>
              </a:defRPr>
            </a:pPr>
            <a:r>
              <a:t>• TC-02 [Level-2 Auto-Escalation]: 25h ticket age simulated -&gt; Escalation level auto-promoted from Coordinator to HOD. [PASSED]</a:t>
            </a:r>
          </a:p>
          <a:p>
            <a:pPr>
              <a:defRPr sz="1100" b="0">
                <a:latin typeface="Arial"/>
              </a:defRPr>
            </a:pPr>
          </a:p>
          <a:p>
            <a:pPr>
              <a:defRPr sz="1100" b="0">
                <a:latin typeface="Arial"/>
              </a:defRPr>
            </a:pPr>
            <a:r>
              <a:t>• TC-03 [Level-3 Auto-Escalation]: 49h ticket age simulated -&gt; Escalation level auto-promoted to DEAN with priority alert. [PASSED]</a:t>
            </a:r>
          </a:p>
          <a:p>
            <a:pPr>
              <a:defRPr sz="1100" b="0">
                <a:latin typeface="Arial"/>
              </a:defRPr>
            </a:pPr>
          </a:p>
          <a:p>
            <a:pPr>
              <a:defRPr sz="1100" b="0">
                <a:latin typeface="Arial"/>
              </a:defRPr>
            </a:pPr>
            <a:r>
              <a:t>• TC-04 [Anti-Bypass Protection]: Staff attempted direct ticket resolution without rating -&gt; Rejected with HTTP 400 Bad Request. [PASSED]</a:t>
            </a:r>
          </a:p>
          <a:p>
            <a:pPr>
              <a:defRPr sz="1100" b="0">
                <a:latin typeface="Arial"/>
              </a:defRPr>
            </a:pPr>
          </a:p>
          <a:p>
            <a:pPr>
              <a:defRPr sz="1100" b="0">
                <a:latin typeface="Arial"/>
              </a:defRPr>
            </a:pPr>
            <a:r>
              <a:t>• TC-05 [Closed-Loop Verification]: Student submitted 5-star rating -&gt; Status permanently transitioned to RESOLVED. [PASSED]</a:t>
            </a:r>
          </a:p>
          <a:p>
            <a:pPr>
              <a:defRPr sz="1100" b="0">
                <a:latin typeface="Arial"/>
              </a:defRPr>
            </a:pPr>
          </a:p>
          <a:p>
            <a:pPr>
              <a:defRPr sz="1100" b="0">
                <a:latin typeface="Arial"/>
              </a:defRPr>
            </a:pPr>
            <a:r>
              <a:t>• TC-06 [Security Defense]: SQL injection payload in login -&gt; Safely parameterized by PreparedStatement; rejected with 401. [PASSED]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743424-EC82-CB7F-E4BE-A62D763905F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477000"/>
            <a:ext cx="3429000" cy="36512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5862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DB275-AA56-4323-9F15-4DC35AD9B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A565-DCC2-4322-8924-3EFF3032CF26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526F5-95FF-4362-BD46-4B37F490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F9E99E-9C41-4A6B-85F9-713434E17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685800"/>
          </a:xfrm>
        </p:spPr>
        <p:txBody>
          <a:bodyPr wrap="square">
            <a:normAutofit/>
          </a:bodyPr>
          <a:lstStyle/>
          <a:p>
            <a:pPr algn="l">
              <a:defRPr sz="2000" b="1">
                <a:latin typeface="Arial"/>
              </a:defRPr>
            </a:pPr>
            <a:r>
              <a:t>PERFORMANCE BENCHMARKS &amp; STORAGE OPTIMIZATION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25D31A-B3F7-2582-1910-0D19BF81BFB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71800" y="6477000"/>
            <a:ext cx="3429000" cy="36512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 b="1" dirty="0"/>
          </a:p>
        </p:txBody>
      </p:sp>
      <p:pic>
        <p:nvPicPr>
          <p:cNvPr id="10" name="Picture 9" descr="fig4_bench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83890"/>
            <a:ext cx="7391400" cy="467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38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DB275-AA56-4323-9F15-4DC35AD9B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7E46D-727D-4065-B06F-C639051A867C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526F5-95FF-4362-BD46-4B37F490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41E12CF-CA42-41E0-9410-74080DD3B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685800"/>
          </a:xfrm>
        </p:spPr>
        <p:txBody>
          <a:bodyPr wrap="square">
            <a:normAutofit/>
          </a:bodyPr>
          <a:lstStyle/>
          <a:p>
            <a:pPr algn="l">
              <a:defRPr sz="2000" b="1">
                <a:latin typeface="Arial"/>
              </a:defRPr>
            </a:pPr>
            <a:r>
              <a:t>GRIEVANCE LIFECYCLE &amp; SLA ESCALATION FLOW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624BA-8821-4F34-91E5-A3CAA40321C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80537" y="6477000"/>
            <a:ext cx="3429000" cy="36512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 b="1" dirty="0"/>
          </a:p>
        </p:txBody>
      </p:sp>
      <p:pic>
        <p:nvPicPr>
          <p:cNvPr id="10" name="Picture 9" descr="fig2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657" y="1371600"/>
            <a:ext cx="728268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10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885E8-0A0F-4540-B8F3-17E0B3611BF8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685800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dirty="0">
                <a:latin typeface="Arial" pitchFamily="34" charset="0"/>
                <a:cs typeface="Arial" pitchFamily="34" charset="0"/>
              </a:rPr>
              <a:t>       </a:t>
            </a:r>
            <a:r>
              <a:rPr lang="en-US" sz="4000" b="1" dirty="0">
                <a:solidFill>
                  <a:srgbClr val="C00000"/>
                </a:solidFill>
                <a:cs typeface="Arial" pitchFamily="34" charset="0"/>
              </a:rPr>
              <a:t>CONCLUSION &amp; FUTURE WORK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114800"/>
          </a:xfrm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  <a:defRPr sz="1150" b="0">
                <a:latin typeface="Arial"/>
              </a:defRPr>
            </a:pPr>
            <a:r>
              <a:t>Key Accomplishments:</a:t>
            </a:r>
          </a:p>
          <a:p>
            <a:pPr>
              <a:defRPr sz="1150" b="0">
                <a:latin typeface="Arial"/>
              </a:defRPr>
            </a:pPr>
            <a:r>
              <a:t>• Full-Stack Mastery: Engineered end-to-end web system with semantic HTML5, pure Java SE 21, and MySQL 8.0.</a:t>
            </a:r>
          </a:p>
          <a:p>
            <a:pPr>
              <a:defRPr sz="1150" b="0">
                <a:latin typeface="Arial"/>
              </a:defRPr>
            </a:pPr>
            <a:r>
              <a:t>• Process Automation: Proved algorithmic 48-hour SLA timers solve campus grievance bottlenecks with zero administrative bias.</a:t>
            </a:r>
          </a:p>
          <a:p>
            <a:pPr>
              <a:defRPr sz="1150" b="0">
                <a:latin typeface="Arial"/>
              </a:defRPr>
            </a:pPr>
            <a:r>
              <a:t>• Closed-Loop Governance: Replaced arbitrary staff closures with verifiable student satisfaction rating locks.</a:t>
            </a:r>
          </a:p>
          <a:p>
            <a:pPr>
              <a:defRPr sz="1150" b="0">
                <a:latin typeface="Arial"/>
              </a:defRPr>
            </a:pPr>
            <a:r>
              <a:t>• Zero-Framework Efficiency: Demonstrated high-performance computing without heavy framework overhead.</a:t>
            </a:r>
          </a:p>
          <a:p>
            <a:pPr>
              <a:defRPr sz="1150" b="0">
                <a:latin typeface="Arial"/>
              </a:defRPr>
            </a:pPr>
          </a:p>
          <a:p>
            <a:pPr>
              <a:defRPr sz="1150" b="0">
                <a:latin typeface="Arial"/>
              </a:defRPr>
            </a:pPr>
            <a:r>
              <a:t>Future AI/ML Enhancements:</a:t>
            </a:r>
          </a:p>
          <a:p>
            <a:pPr>
              <a:defRPr sz="1150" b="0">
                <a:latin typeface="Arial"/>
              </a:defRPr>
            </a:pPr>
            <a:r>
              <a:t>• AI Duplicate Clustering: Sentence-Transformer NLP embeddings to cluster and merge duplicate campus tickets.</a:t>
            </a:r>
          </a:p>
          <a:p>
            <a:pPr>
              <a:defRPr sz="1150" b="0">
                <a:latin typeface="Arial"/>
              </a:defRPr>
            </a:pPr>
            <a:r>
              <a:t>• Computer Vision Verification: OpenCV / YOLO models comparing before/after maintenance photos.</a:t>
            </a:r>
          </a:p>
          <a:p>
            <a:pPr>
              <a:defRPr sz="1150" b="0">
                <a:latin typeface="Arial"/>
              </a:defRPr>
            </a:pPr>
            <a:r>
              <a:t>• Cross-Platform Mobile App: Native Flutter client with offline SQLite caching.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63A858-9A09-75E4-083D-37964AB27CA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33700" y="6477000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42845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6D66E7F-DEC1-45A0-8E19-12F87E4C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  <a:cs typeface="Arial" pitchFamily="34" charset="0"/>
              </a:rPr>
              <a:t>REFERENCES</a:t>
            </a:r>
            <a:endParaRPr lang="en-IN" sz="36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8B1995-2397-40B6-8D46-85CDDE3A2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" y="1752600"/>
            <a:ext cx="8229600" cy="3352800"/>
          </a:xfrm>
        </p:spPr>
        <p:txBody>
          <a:bodyPr wrap="square">
            <a:normAutofit/>
          </a:bodyPr>
          <a:lstStyle/>
          <a:p>
            <a:pPr algn="just">
              <a:buFont typeface="+mj-lt"/>
              <a:buAutoNum type="arabicPeriod"/>
              <a:defRPr sz="1150" b="0">
                <a:latin typeface="Arial"/>
              </a:defRPr>
            </a:pPr>
            <a:r>
              <a:t>1. Sanjai, H. (2026). Smart Complaint &amp; Grievance Redressal Portal: Open-Source Codebase.</a:t>
            </a:r>
          </a:p>
          <a:p>
            <a:pPr>
              <a:defRPr sz="1150" b="0">
                <a:latin typeface="Arial"/>
              </a:defRPr>
            </a:pPr>
            <a:r>
              <a:t>   GitHub Repository: https://github.com/sanjai-19/smart-complaint-portal</a:t>
            </a:r>
          </a:p>
          <a:p>
            <a:pPr>
              <a:defRPr sz="1150" b="0">
                <a:latin typeface="Arial"/>
              </a:defRPr>
            </a:pPr>
          </a:p>
          <a:p>
            <a:pPr>
              <a:defRPr sz="1150" b="0">
                <a:latin typeface="Arial"/>
              </a:defRPr>
            </a:pPr>
            <a:r>
              <a:t>2. Oracle Corporation. (2024). Java SE 21 LTS Specification: com.sun.net.httpserver Package.</a:t>
            </a:r>
          </a:p>
          <a:p>
            <a:pPr>
              <a:defRPr sz="1150" b="0">
                <a:latin typeface="Arial"/>
              </a:defRPr>
            </a:pPr>
          </a:p>
          <a:p>
            <a:pPr>
              <a:defRPr sz="1150" b="0">
                <a:latin typeface="Arial"/>
              </a:defRPr>
            </a:pPr>
            <a:r>
              <a:t>3. MySQL AB. (2024). MySQL 8.0 Reference Manual: InnoDB Engine &amp; Transaction Isolation.</a:t>
            </a:r>
          </a:p>
          <a:p>
            <a:pPr>
              <a:defRPr sz="1150" b="0">
                <a:latin typeface="Arial"/>
              </a:defRPr>
            </a:pPr>
          </a:p>
          <a:p>
            <a:pPr>
              <a:defRPr sz="1150" b="0">
                <a:latin typeface="Arial"/>
              </a:defRPr>
            </a:pPr>
            <a:r>
              <a:t>4. Provos, N., &amp; Mazières, D. (1999). A Future-Adaptable Password Scheme (BCrypt Cryptography).</a:t>
            </a:r>
          </a:p>
          <a:p>
            <a:pPr>
              <a:defRPr sz="1150" b="0">
                <a:latin typeface="Arial"/>
              </a:defRPr>
            </a:pPr>
          </a:p>
          <a:p>
            <a:pPr>
              <a:defRPr sz="1150" b="0">
                <a:latin typeface="Arial"/>
              </a:defRPr>
            </a:pPr>
            <a:r>
              <a:t>5. Fielding, R. T. (2000). Architectural Styles and the Design of Network-based Software Architectures.</a:t>
            </a:r>
          </a:p>
          <a:p>
            <a:pPr>
              <a:defRPr sz="1150" b="0">
                <a:latin typeface="Arial"/>
              </a:defRPr>
            </a:pPr>
          </a:p>
          <a:p>
            <a:pPr>
              <a:defRPr sz="1150" b="0">
                <a:latin typeface="Arial"/>
              </a:defRPr>
            </a:pPr>
            <a:r>
              <a:t>6. Sathyabama Institute of Science and Technology. (2026). Dept of CSE (AI) Capstone Rubric.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D1CBF-2A96-43DD-8DC9-9DB6822FA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57493-1C8C-4A3E-BCCA-11B2040A1BF5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27FD1-9FC2-420E-9264-EA7A9A06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1E2B5-4820-CC59-842B-AFA5E602AC7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95600" y="6446837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798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E30F7-CE19-4B37-83CB-B7735D944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C0C02-280B-4F3B-9249-E4F997E28E2C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81BC7-D526-441E-9955-3396619E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D7370-7085-4FB8-8DCE-ED8FA641FC1E}"/>
              </a:ext>
            </a:extLst>
          </p:cNvPr>
          <p:cNvSpPr txBox="1"/>
          <p:nvPr/>
        </p:nvSpPr>
        <p:spPr>
          <a:xfrm>
            <a:off x="215452" y="381000"/>
            <a:ext cx="792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latin typeface="Arial"/>
              </a:defRPr>
            </a:pPr>
            <a:r>
              <a:t>SMART COMPLAINT &amp; GRIEVANCE REDRESSAL PORTAL</a:t>
            </a:r>
            <a:endParaRPr lang="en-US" sz="28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300" b="1">
                <a:latin typeface="Arial"/>
              </a:defRPr>
            </a:pPr>
          </a:p>
          <a:p>
            <a:pPr>
              <a:defRPr sz="1300" b="1">
                <a:latin typeface="Arial"/>
              </a:defRPr>
            </a:pPr>
            <a:r>
              <a:t>Candidate: H Sanjai [ Reg.No. : 44731076 ]</a:t>
            </a:r>
          </a:p>
          <a:p>
            <a:pPr>
              <a:defRPr sz="1300" b="1">
                <a:latin typeface="Arial"/>
              </a:defRPr>
            </a:pPr>
            <a:r>
              <a:t>Department of Computer Science &amp; Engineering (Artificial Intelligence)</a:t>
            </a:r>
          </a:p>
          <a:p>
            <a:pPr>
              <a:defRPr sz="1300" b="1">
                <a:latin typeface="Arial"/>
              </a:defRPr>
            </a:pPr>
            <a:r>
              <a:t>Sathyabama Institute of Science and Technology (SIST), Chennai</a:t>
            </a:r>
          </a:p>
          <a:p>
            <a:pPr>
              <a:defRPr sz="1300" b="1">
                <a:latin typeface="Arial"/>
              </a:defRPr>
            </a:pPr>
            <a:r>
              <a:t>Internal Guide: Ms. R. Shanumgaa Priya, M.E.</a:t>
            </a:r>
          </a:p>
          <a:p>
            <a:pPr>
              <a:defRPr sz="1300" b="1">
                <a:latin typeface="Arial"/>
              </a:defRPr>
            </a:pPr>
            <a:r>
              <a:t>Project Domain: Full-Stack Web Architecture, Database Systems &amp; Process Automation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82EB4D-88EA-D47D-263F-9EA8F37319D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469690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38550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47DE25-20B9-4305-B47C-480F46A36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3400"/>
            <a:ext cx="8229600" cy="822357"/>
          </a:xfrm>
        </p:spPr>
        <p:txBody>
          <a:bodyPr wrap="square">
            <a:normAutofit fontScale="90000"/>
          </a:bodyPr>
          <a:lstStyle/>
          <a:p>
            <a:pPr>
              <a:defRPr sz="2000" b="1">
                <a:latin typeface="Arial"/>
              </a:defRPr>
            </a:pPr>
            <a:r>
              <a:t>SMART COMPLAINT &amp; GRIEVANCE REDRESSAL PORTAL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A22C1-60C2-4D5B-A610-694C147D4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BE68C-FBAC-4C0D-BD35-CE8943CBDA28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E045D-144D-4F99-ADE1-D7B18AF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F98646-4A60-42C1-9936-B559100147A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31502" y="6492875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  <p:pic>
        <p:nvPicPr>
          <p:cNvPr id="9" name="Picture 8" descr="thank_y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050" y="2667000"/>
            <a:ext cx="6011905" cy="222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4768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845</Words>
  <Application>Microsoft Office PowerPoint</Application>
  <PresentationFormat>On-screen Show (4:3)</PresentationFormat>
  <Paragraphs>140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Custom Design</vt:lpstr>
      <vt:lpstr>PowerPoint Presentation</vt:lpstr>
      <vt:lpstr>                PRESENTATION OUTLINE</vt:lpstr>
      <vt:lpstr>COURSE CERTIFICATE</vt:lpstr>
      <vt:lpstr>ABSTRACT</vt:lpstr>
      <vt:lpstr>                           OBJECTIVES</vt:lpstr>
      <vt:lpstr>                  SYSTEM ARCHITECTURE</vt:lpstr>
      <vt:lpstr>HARDWARE AND SOFTWARE REQUIREMENTS</vt:lpstr>
      <vt:lpstr>  DATASET DESCRIPTION</vt:lpstr>
      <vt:lpstr>CLASSIFICATION ALGORTIHM</vt:lpstr>
      <vt:lpstr>               RESULTS AND DISCUSSION</vt:lpstr>
      <vt:lpstr>               RESULTS AND DISCUSSION</vt:lpstr>
      <vt:lpstr>               RESULTS AND DISCUSSION</vt:lpstr>
      <vt:lpstr>        CONCLUSION &amp; FUTURE WORK </vt:lpstr>
      <vt:lpstr>REFERENCES</vt:lpstr>
      <vt:lpstr>PowerPoint Presentation</vt:lpstr>
      <vt:lpstr>EARLY-STAGE DIABETES RISK PREDICTION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R.Sathya Bama</dc:creator>
  <cp:lastModifiedBy>SANJAI H</cp:lastModifiedBy>
  <cp:revision>150</cp:revision>
  <dcterms:created xsi:type="dcterms:W3CDTF">2019-11-06T07:48:53Z</dcterms:created>
  <dcterms:modified xsi:type="dcterms:W3CDTF">2026-09-22T10:09:18Z</dcterms:modified>
</cp:coreProperties>
</file>